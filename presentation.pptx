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F8F1"/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344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Multiorgan Segmentation of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Abdominal CT Scans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Using 3D U-Net and the AbdomenAtlas1.0Mini Dataset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 – 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Medical Image Analysis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organ delineation by radiologists is: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Time-consuming &amp; labour intensive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Prone to inter-observer variability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Impractical at clinical scale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volumetric architectures have substantially closed the gap between automated and expert-level segmentation performance.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0060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AbdomenAtlas1.0Mini — 5,195 annotated CT volumes (100 used)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3D U-Net (MONAI framework)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Voxel-wise segmentation of 9 abdominal organs + background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Organs: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Aorta, Gallbladder, Spleen, Left &amp; Right Kidney, Liver, Stomach, Pancreas, IVC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DSC (primary), IoU, Precision, Recall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AbdomenAtlas1.0Mini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5,195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CT Volumes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Full 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777240"/>
            <a:ext cx="19202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68880" y="7772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6888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Volumes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(Subset)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19202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Organs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777240"/>
            <a:ext cx="19202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58000" y="7772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0" y="868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GB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Post-Preprocessing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Mapping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4754880" cy="19202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Organ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Organ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Background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Right Kidney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Aorta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Liver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Gallbladder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Stomach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Spleen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Pancreas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Left Kidney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IVC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303520" y="2286000"/>
            <a:ext cx="35661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4068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100 Patients?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40680" y="26974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Kaggle T4 GPU: 16 GB VRAM, ~20 GB disk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dataset exceeds practical storage limit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volumes ≈ 8 GB after preprocessing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70 / 15 / 15 train-val-test split (seed=42)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Lexicographic sampling ≈ random demographic draw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Transforms (All Splits)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 Resampling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1.5×1.5×1.5 mm uniform voxel spacing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Trilinear (CT) + nearest-neighbour (masks)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Normalization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157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clipped to [−150, 250]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Rescaled linearly to [0.0, 1.0]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56616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35661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Cropping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5020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zero-padded air regions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volume size &amp; memory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Augmentations Only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92040" y="1097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0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Patch Sampling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14813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patches of 96³ voxels / volume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Pos:Neg = 1:1 balanced strategy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892040" y="2331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0" y="2404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Flipping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27157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Horizontal, vertical, depth axis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 each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92040" y="35661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0" y="3639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&amp; Intensity Shift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395020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axial rotation (p=0.1)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offset ±0.10 (p=0.5)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Architecture: 3D U-Net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7772" b="9411"/>
          <a:stretch>
            <a:fillRect/>
          </a:stretch>
        </p:blipFill>
        <p:spPr>
          <a:xfrm>
            <a:off x="182880" y="991402"/>
            <a:ext cx="5120640" cy="25747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32120" y="749808"/>
            <a:ext cx="33832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669280" y="8229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Configuration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1170432"/>
            <a:ext cx="329184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23560" y="117043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spatial_dims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69480" y="11704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1517904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623560" y="151790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in_channels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269480" y="15179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(single-channel CT)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1865376"/>
            <a:ext cx="329184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623560" y="186537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out_channels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69480" y="186537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(9 organs + bg)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2212848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623560" y="221284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channels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69480" y="22128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32→64→128→256→512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7840" y="2560320"/>
            <a:ext cx="329184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23560" y="25603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269480" y="256032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(2, 2, 2, 2)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77840" y="2907792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623560" y="290779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units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269480" y="290779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 stage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77840" y="3255264"/>
            <a:ext cx="329184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623560" y="325526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69480" y="325526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7840" y="3602736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623560" y="360273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69480" y="36027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577840" y="3950208"/>
            <a:ext cx="329184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623560" y="395020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69480" y="395020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~31.2 M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28600" y="41148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combine high-level semantic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with fine-grained spatial detail —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for adjacent structures (e.g. liver &amp; gallbladder).</a:t>
            </a:r>
            <a:endParaRPr 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DA0658-5C2B-5637-F436-57D02A744170}"/>
              </a:ext>
            </a:extLst>
          </p:cNvPr>
          <p:cNvSpPr txBox="1"/>
          <p:nvPr/>
        </p:nvSpPr>
        <p:spPr>
          <a:xfrm>
            <a:off x="182880" y="3545251"/>
            <a:ext cx="4576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b="1" dirty="0"/>
              <a:t>Schematic of the 3D U-Net encoder-decoder architecture with skip connections. Encoder channels: 32 → 64 → 128 → 256 → 512. Each stage incorporates two residual units with batch normalisation and a stride-2 convolution for downsampling.</a:t>
            </a:r>
            <a:endParaRPr lang="en-IN" sz="1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788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606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DiceCELoss (MONAI)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soft Dice + Cross-Entropy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excluded from Dice component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dominant bg from overwhelming small organ gradients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activation over class dim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749808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0" y="749808"/>
            <a:ext cx="27889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91840" y="749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&amp; LR Schedule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606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(lr = 1×10⁻⁴, wd = 1×10⁻⁵)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weight decay → better L2 regularisation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Annealing: T_max=100, η_min=1×10⁻⁶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(FP16 activations, FP32 gradients)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VRAM reduction via Tensor Cores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749808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72200" y="749808"/>
            <a:ext cx="2788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63640" y="749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606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size: 96×96×96 voxels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patches per volume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epochs: 100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every 2 epochs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inference (overlap=0.5)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saved on val DSC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Workflow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3571" t="8470" r="2257" b="11267"/>
          <a:stretch>
            <a:fillRect/>
          </a:stretch>
        </p:blipFill>
        <p:spPr>
          <a:xfrm>
            <a:off x="-1636" y="725744"/>
            <a:ext cx="9143999" cy="25447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3840480"/>
            <a:ext cx="146304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20040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29968" y="3840480"/>
            <a:ext cx="146304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029968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29968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739896" y="3840480"/>
            <a:ext cx="146304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739896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39896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Loading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9824" y="3840480"/>
            <a:ext cx="146304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49824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49824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U-Net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59752" y="3840480"/>
            <a:ext cx="1463040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159752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59752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Export</a:t>
            </a:r>
            <a:endParaRPr lang="en-US" sz="9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E83AE6-315E-FB5E-017E-AA535EA610C9}"/>
              </a:ext>
            </a:extLst>
          </p:cNvPr>
          <p:cNvSpPr txBox="1"/>
          <p:nvPr/>
        </p:nvSpPr>
        <p:spPr>
          <a:xfrm>
            <a:off x="626123" y="3259050"/>
            <a:ext cx="80871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b="1" dirty="0"/>
              <a:t>Workflow diagram illustrating the five pipeline stages: (1) Raw Data Extraction from Hugging Face Hub; (2) Patient Filtering &amp; Sampling (N = 100); (3) Preprocessing &amp; Data Loading; (4) 3D U-Net Training with AMP; (5) Evaluation &amp; Result Export.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60520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 ·  Dice Similarity Coefficient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16152"/>
            <a:ext cx="3931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216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2|P∩G| / (|P|+|G|)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metric. Harmonic mean of precision &amp; recall. Sensitive to over- and under-segmentation.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404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(no overlap) → 1 (perfect)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97180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2971800"/>
            <a:ext cx="4160520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9718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 ·  Intersection over Union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364992"/>
            <a:ext cx="3931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3364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|P∩G| / |P∪G|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7490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Index. Stricter than DSC. Monotonically related: IoU = DSC / (2−DSC).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4553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complement to DSC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82296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160520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0" y="822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  ·  Precision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1216152"/>
            <a:ext cx="3931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1216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|P∩G| / |P|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600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predictive value. High recall + low precision → over-segmentation.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404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over-segmentation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2971800"/>
            <a:ext cx="4160520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00600" y="29718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·  Sensitivity / Recall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364992"/>
            <a:ext cx="3931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00600" y="3364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|P∩G| / |G|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7490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+ low recall → under-segmentation. Key for small organs.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4553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under-segmentation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897265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voxels are excluded from all metric computations — consistent with standard multi-class medical segmentation practice.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Training Dynamics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5264" t="8148" r="3977" b="8149"/>
          <a:stretch>
            <a:fillRect/>
          </a:stretch>
        </p:blipFill>
        <p:spPr>
          <a:xfrm>
            <a:off x="490888" y="1024128"/>
            <a:ext cx="3734603" cy="20665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3978" t="8147" r="5263" b="8149"/>
          <a:stretch>
            <a:fillRect/>
          </a:stretch>
        </p:blipFill>
        <p:spPr>
          <a:xfrm>
            <a:off x="4918511" y="1024128"/>
            <a:ext cx="3734602" cy="20665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2095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000" b="1" dirty="0"/>
              <a:t>Per-epoch training loss (</a:t>
            </a:r>
            <a:r>
              <a:rPr lang="en-IN" sz="1000" b="1" dirty="0" err="1"/>
              <a:t>DiceCELoss</a:t>
            </a:r>
            <a:r>
              <a:rPr lang="en-IN" sz="1000" b="1" dirty="0"/>
              <a:t>) over 100 epochs.</a:t>
            </a:r>
            <a:endParaRPr lang="en-US" sz="1000" b="1" dirty="0"/>
          </a:p>
        </p:txBody>
      </p:sp>
      <p:sp>
        <p:nvSpPr>
          <p:cNvPr id="7" name="Text 3"/>
          <p:cNvSpPr/>
          <p:nvPr/>
        </p:nvSpPr>
        <p:spPr>
          <a:xfrm>
            <a:off x="4754880" y="3337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000" b="1" dirty="0"/>
              <a:t>Mean Dice Similarity Coefficient on the validation set, evaluated every 2 epochs. Dashed vertical line marks the best-performing epoch at which the model checkpoint was saved.</a:t>
            </a:r>
          </a:p>
        </p:txBody>
      </p:sp>
      <p:sp>
        <p:nvSpPr>
          <p:cNvPr id="8" name="Text 4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drops steeply from ~3.2 → ~1.0 in the first 20 epochs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validation DSC steadily improves from near 0 → ~0.55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saved at Epoch 98 (mean DSC ≈ 0.509 on test set)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ensures smooth convergence in later epochs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Per-Organ DSC Bar Chart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5848" t="10072" r="3508" b="6674"/>
          <a:stretch>
            <a:fillRect/>
          </a:stretch>
        </p:blipFill>
        <p:spPr>
          <a:xfrm>
            <a:off x="394636" y="777240"/>
            <a:ext cx="4475747" cy="3349591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777240"/>
          <a:ext cx="3566160" cy="382219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DSC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IoU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Right Kidney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</a:rPr>
                        <a:t>0.883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0.797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Pancreas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</a:rPr>
                        <a:t>0.721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0.611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Left Kidney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</a:rPr>
                        <a:t>0.712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0.600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Spleen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</a:rPr>
                        <a:t>0.676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0.552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Gallbladder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</a:rPr>
                        <a:t>0.439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0.314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Aorta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</a:rPr>
                        <a:t>0.402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0.286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Liver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0.365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0.229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IVC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0.353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0.241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Stomach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0.029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0.015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Mean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0.509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40319BB-BBCD-82C8-CC02-11BCF31B96D3}"/>
              </a:ext>
            </a:extLst>
          </p:cNvPr>
          <p:cNvSpPr txBox="1"/>
          <p:nvPr/>
        </p:nvSpPr>
        <p:spPr>
          <a:xfrm>
            <a:off x="533000" y="4199322"/>
            <a:ext cx="4576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b="1" dirty="0"/>
              <a:t>Bar chart of mean DSC (± std) per organ class on the test set. Red dashed line denotes the overall mean DSC.</a:t>
            </a:r>
            <a:endParaRPr lang="en-IN" sz="1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Qualitative Segmentation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7423" t="15055" r="26511" b="39780"/>
          <a:stretch>
            <a:fillRect/>
          </a:stretch>
        </p:blipFill>
        <p:spPr>
          <a:xfrm>
            <a:off x="119105" y="1001268"/>
            <a:ext cx="2650986" cy="2189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822960"/>
            <a:ext cx="24048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| Ground Truth | Prediction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0" y="749808"/>
            <a:ext cx="33832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7784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Legend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23560" y="1207008"/>
            <a:ext cx="256032" cy="23774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43600" y="11704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3560" y="1554480"/>
            <a:ext cx="256032" cy="237744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943600" y="15179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Gallbladder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23560" y="1901952"/>
            <a:ext cx="256032" cy="237744"/>
          </a:xfrm>
          <a:prstGeom prst="rect">
            <a:avLst/>
          </a:prstGeom>
          <a:solidFill>
            <a:srgbClr val="808000"/>
          </a:solidFill>
          <a:ln w="12700">
            <a:solidFill>
              <a:srgbClr val="808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943600" y="186537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Spleen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23560" y="2249424"/>
            <a:ext cx="256032" cy="23774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943600" y="22128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Kidney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23560" y="2596896"/>
            <a:ext cx="256032" cy="237744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943600" y="2560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Kidney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23560" y="2944368"/>
            <a:ext cx="256032" cy="237744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943600" y="29077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23560" y="3291840"/>
            <a:ext cx="256032" cy="237744"/>
          </a:xfrm>
          <a:prstGeom prst="rect">
            <a:avLst/>
          </a:prstGeom>
          <a:solidFill>
            <a:srgbClr val="FFFDD0"/>
          </a:solidFill>
          <a:ln w="12700">
            <a:solidFill>
              <a:srgbClr val="FFFD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943600" y="325526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23560" y="3639312"/>
            <a:ext cx="256032" cy="237744"/>
          </a:xfrm>
          <a:prstGeom prst="rect">
            <a:avLst/>
          </a:prstGeom>
          <a:solidFill>
            <a:srgbClr val="800080"/>
          </a:solidFill>
          <a:ln w="12700">
            <a:solidFill>
              <a:srgbClr val="8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943600" y="360273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23560" y="3986784"/>
            <a:ext cx="256032" cy="2377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943600" y="39502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IVC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77840" y="4434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axial slices shown per test patient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(CT | Ground Truth | Model Prediction)</a:t>
            </a:r>
            <a:endParaRPr lang="en-US" sz="9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0058B7-8ADD-54D0-4CBA-D699B09E5464}"/>
              </a:ext>
            </a:extLst>
          </p:cNvPr>
          <p:cNvSpPr txBox="1"/>
          <p:nvPr/>
        </p:nvSpPr>
        <p:spPr>
          <a:xfrm>
            <a:off x="144018" y="3291840"/>
            <a:ext cx="26529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b="1" dirty="0"/>
              <a:t>Representative axial CT slices (top-3 foreground-dense slices) for a test patient, showing the raw CT image, ground-truth annotation, and model prediction. Colour coding: Aorta (red), Gallbladder (blue), Spleen (olive), Left Kidney (gold), Right Kidney (magenta), Liver (teal), Stomach (cream), Pancreas (purple), IVC (dark).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28E869-E634-37A8-9498-76999689A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874" y="1001268"/>
            <a:ext cx="2524518" cy="222199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CE23C59-7EA3-71C3-EB26-CCEAA6ABA414}"/>
              </a:ext>
            </a:extLst>
          </p:cNvPr>
          <p:cNvSpPr txBox="1"/>
          <p:nvPr/>
        </p:nvSpPr>
        <p:spPr>
          <a:xfrm>
            <a:off x="2897874" y="3292953"/>
            <a:ext cx="25245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b="1" dirty="0"/>
              <a:t>Best validation DSC, test DSC, and test </a:t>
            </a:r>
            <a:r>
              <a:rPr lang="en-US" sz="1000" b="1" dirty="0" err="1"/>
              <a:t>IoU</a:t>
            </a:r>
            <a:r>
              <a:rPr lang="en-US" sz="1000" b="1" dirty="0"/>
              <a:t> reported from </a:t>
            </a:r>
            <a:r>
              <a:rPr lang="en-US" sz="1000" b="1" dirty="0" err="1"/>
              <a:t>summary.json</a:t>
            </a:r>
            <a:r>
              <a:rPr lang="en-US" sz="1000" b="1" dirty="0"/>
              <a:t> upon training completion. </a:t>
            </a:r>
            <a:endParaRPr lang="en-IN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ED3D89-5AE2-3B87-FBAF-C9DA6E2BE89D}"/>
              </a:ext>
            </a:extLst>
          </p:cNvPr>
          <p:cNvSpPr txBox="1"/>
          <p:nvPr/>
        </p:nvSpPr>
        <p:spPr>
          <a:xfrm>
            <a:off x="2860989" y="805005"/>
            <a:ext cx="45765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/>
              <a:t>Overall Summary Statistics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9552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795528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7957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Kidney (0.883), Pancreas (0.721), Left Kidney (0.712)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Spatially consistent, easy to distinguish in 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22128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2880" y="2212848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Performers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59689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 (DSC 0.029), Liver (0.365), IVC (0.353)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contrast, high anatomical variability, insufficient patch coverage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363016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82880" y="3630168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01421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std dev across organs (e.g. Aorta std=0.269)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struggles to generalise consistently across patients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79552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795528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204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Constraints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17957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~10–11 hrs on Kaggle T4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100/5195 patients (~1.9%) used — primary bottleneck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2128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09160" y="2212848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9204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Strategy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59689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DiceCELoss + cosine annealing insufficient for highly imbalanced classes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Class-weighted or focal variants recommended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3016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09160" y="3630168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92040" y="3703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01421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500–1,000 patients on more capable hardware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Expected significant improvement in DSC and stability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 – 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Multiorgan Segmentation of Abdominal CT Scans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Using 3D U-Net and the AbdomenAtlas1.0Mini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Reference: Qu et al. (2023) AbdomenAtlas8k · Çiçek et al. (2016) 3D U-Net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1313</Words>
  <Application>Microsoft Office PowerPoint</Application>
  <PresentationFormat>On-screen Show (16:9)</PresentationFormat>
  <Paragraphs>260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Multiorgan Segmentation of Abdominal CT Scans</dc:title>
  <dc:subject>PptxGenJS Presentation</dc:subject>
  <dc:creator>PptxGenJS</dc:creator>
  <cp:lastModifiedBy>swaraj biswal</cp:lastModifiedBy>
  <cp:revision>5</cp:revision>
  <dcterms:created xsi:type="dcterms:W3CDTF">2026-04-15T13:48:04Z</dcterms:created>
  <dcterms:modified xsi:type="dcterms:W3CDTF">2026-04-16T16:11:01Z</dcterms:modified>
</cp:coreProperties>
</file>